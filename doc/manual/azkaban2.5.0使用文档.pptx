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6" r:id="rId2"/>
    <p:sldId id="257" r:id="rId3"/>
    <p:sldId id="278" r:id="rId4"/>
    <p:sldId id="292" r:id="rId5"/>
    <p:sldId id="283" r:id="rId6"/>
    <p:sldId id="286" r:id="rId7"/>
    <p:sldId id="284" r:id="rId8"/>
    <p:sldId id="276" r:id="rId9"/>
    <p:sldId id="277" r:id="rId10"/>
    <p:sldId id="281" r:id="rId11"/>
    <p:sldId id="282" r:id="rId12"/>
    <p:sldId id="285" r:id="rId13"/>
    <p:sldId id="287" r:id="rId14"/>
    <p:sldId id="293" r:id="rId15"/>
    <p:sldId id="294" r:id="rId16"/>
    <p:sldId id="295" r:id="rId17"/>
    <p:sldId id="279" r:id="rId18"/>
    <p:sldId id="280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89" r:id="rId36"/>
    <p:sldId id="290" r:id="rId37"/>
    <p:sldId id="291" r:id="rId38"/>
    <p:sldId id="296" r:id="rId3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F2BA1-5445-4B31-8BB7-4F3365EF4DDD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FFADB-5668-4344-8F45-2E34DE33B8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15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FFADB-5668-4344-8F45-2E34DE33B83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350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2015/3/16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Azkaban</a:t>
            </a:r>
            <a:r>
              <a:rPr lang="zh-CN" altLang="en-US" dirty="0" smtClean="0"/>
              <a:t>调度系统实践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2719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87624" y="1340768"/>
            <a:ext cx="55446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、</a:t>
            </a:r>
            <a:r>
              <a:rPr lang="en-US" altLang="zh-CN" sz="3600" b="1" dirty="0" smtClean="0"/>
              <a:t>Azkaban</a:t>
            </a:r>
            <a:r>
              <a:rPr lang="zh-CN" altLang="en-US" sz="3600" b="1" dirty="0" smtClean="0"/>
              <a:t>介绍</a:t>
            </a:r>
            <a:endParaRPr lang="en-US" altLang="zh-CN" sz="3600" b="1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、任务</a:t>
            </a:r>
            <a:r>
              <a:rPr lang="zh-CN" altLang="en-US" sz="2800" dirty="0"/>
              <a:t>调度现状和</a:t>
            </a:r>
            <a:r>
              <a:rPr lang="zh-CN" altLang="en-US" sz="2800" dirty="0" smtClean="0"/>
              <a:t>问题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azkaban</a:t>
            </a:r>
            <a:r>
              <a:rPr lang="zh-CN" altLang="en-US" sz="2800" dirty="0"/>
              <a:t>的特点及</a:t>
            </a:r>
            <a:r>
              <a:rPr lang="zh-CN" altLang="en-US" sz="2800" dirty="0" smtClean="0"/>
              <a:t>优势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4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azkaban</a:t>
            </a:r>
            <a:r>
              <a:rPr lang="en-US" altLang="zh-CN" sz="2800" dirty="0" smtClean="0"/>
              <a:t> </a:t>
            </a:r>
            <a:r>
              <a:rPr lang="zh-CN" altLang="en-US" sz="2800" dirty="0"/>
              <a:t>的使用</a:t>
            </a:r>
            <a:r>
              <a:rPr lang="zh-CN" altLang="en-US" sz="2800" dirty="0" smtClean="0"/>
              <a:t>场景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5</a:t>
            </a:r>
            <a:r>
              <a:rPr lang="zh-CN" altLang="en-US" sz="2800" dirty="0" smtClean="0"/>
              <a:t>、我们</a:t>
            </a:r>
            <a:r>
              <a:rPr lang="zh-CN" altLang="en-US" sz="2800" dirty="0"/>
              <a:t>的优化与改造</a:t>
            </a:r>
            <a:endParaRPr lang="en-US" altLang="zh-CN" sz="2800" b="1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6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Azkaban</a:t>
            </a:r>
            <a:r>
              <a:rPr lang="zh-CN" altLang="en-US" sz="2800" dirty="0" smtClean="0"/>
              <a:t>使用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8009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Azkaban</a:t>
            </a:r>
            <a:r>
              <a:rPr lang="zh-CN" altLang="en-US" dirty="0"/>
              <a:t>是由</a:t>
            </a:r>
            <a:r>
              <a:rPr lang="en-US" altLang="zh-CN" dirty="0" err="1"/>
              <a:t>Linkedin</a:t>
            </a:r>
            <a:r>
              <a:rPr lang="zh-CN" altLang="en-US" dirty="0"/>
              <a:t>开源的一个批量工作流任务调度器</a:t>
            </a:r>
            <a:r>
              <a:rPr lang="zh-CN" altLang="en-US" dirty="0" smtClean="0"/>
              <a:t>。</a:t>
            </a:r>
            <a:r>
              <a:rPr lang="zh-CN" altLang="en-US" dirty="0"/>
              <a:t>操作比</a:t>
            </a:r>
            <a:r>
              <a:rPr lang="en-US" altLang="zh-CN" dirty="0" err="1"/>
              <a:t>Oozie</a:t>
            </a:r>
            <a:r>
              <a:rPr lang="zh-CN" altLang="en-US" dirty="0"/>
              <a:t>要简单很多而且非常直观，提供的功能比较简单。</a:t>
            </a:r>
            <a:r>
              <a:rPr lang="en-US" altLang="zh-CN" dirty="0"/>
              <a:t>Azkaban</a:t>
            </a:r>
            <a:r>
              <a:rPr lang="zh-CN" altLang="en-US" dirty="0"/>
              <a:t>以</a:t>
            </a:r>
            <a:r>
              <a:rPr lang="en-US" altLang="zh-CN" dirty="0"/>
              <a:t>Flow</a:t>
            </a:r>
            <a:r>
              <a:rPr lang="zh-CN" altLang="en-US" dirty="0"/>
              <a:t>为执行单元进行定时调度，</a:t>
            </a:r>
            <a:r>
              <a:rPr lang="en-US" altLang="zh-CN" dirty="0"/>
              <a:t>Flow</a:t>
            </a:r>
            <a:r>
              <a:rPr lang="zh-CN" altLang="en-US" dirty="0"/>
              <a:t>就是预定义好的由一个或多个可存在依赖关系的</a:t>
            </a:r>
            <a:r>
              <a:rPr lang="en-US" altLang="zh-CN" dirty="0"/>
              <a:t>Job</a:t>
            </a:r>
            <a:r>
              <a:rPr lang="zh-CN" altLang="en-US" dirty="0"/>
              <a:t>组成的工作流。</a:t>
            </a:r>
            <a:endParaRPr lang="en-US" altLang="zh-CN" dirty="0" smtClean="0"/>
          </a:p>
          <a:p>
            <a:r>
              <a:rPr lang="en-US" altLang="zh-CN" dirty="0" smtClean="0"/>
              <a:t>Azkaban</a:t>
            </a:r>
            <a:r>
              <a:rPr lang="zh-CN" altLang="en-US" dirty="0" smtClean="0"/>
              <a:t>的官方主页是</a:t>
            </a:r>
            <a:r>
              <a:rPr lang="en-US" altLang="zh-CN" dirty="0" smtClean="0"/>
              <a:t>http://azkaban.github.io/azkaban/docs/2.5/ 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Azkaban</a:t>
            </a:r>
            <a:r>
              <a:rPr lang="zh-CN" altLang="en-US" b="1" dirty="0"/>
              <a:t>介绍</a:t>
            </a:r>
            <a:r>
              <a:rPr lang="en-US" altLang="zh-CN" b="1" dirty="0"/>
              <a:t/>
            </a:r>
            <a:br>
              <a:rPr lang="en-US" altLang="zh-CN" b="1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790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Azkaban</a:t>
            </a:r>
            <a:r>
              <a:rPr lang="zh-CN" altLang="en-US" dirty="0"/>
              <a:t>来自</a:t>
            </a:r>
            <a:r>
              <a:rPr lang="en-US" altLang="zh-CN" dirty="0"/>
              <a:t>LinkedIn</a:t>
            </a:r>
            <a:r>
              <a:rPr lang="zh-CN" altLang="en-US" dirty="0"/>
              <a:t>公司，用于管理他们的</a:t>
            </a:r>
            <a:r>
              <a:rPr lang="en-US" altLang="zh-CN" dirty="0" err="1"/>
              <a:t>Hadoop</a:t>
            </a:r>
            <a:r>
              <a:rPr lang="zh-CN" altLang="en-US" dirty="0"/>
              <a:t>批处理工作流。日常生产环境中，为了得到想要的数据，通常需要执行很多作业，一批作业执行完毕，再将中间结果进一步处理，最后得到有价值的数据，因此作业之间执行有先后顺序和依赖关系。这样的一组作业称为一个工作流，</a:t>
            </a:r>
            <a:r>
              <a:rPr lang="en-US" altLang="zh-CN" dirty="0"/>
              <a:t>Azkaban</a:t>
            </a:r>
            <a:r>
              <a:rPr lang="zh-CN" altLang="en-US" dirty="0"/>
              <a:t>就是用来构建、运行和管理工作流的工具，它提供友好的</a:t>
            </a:r>
            <a:r>
              <a:rPr lang="en-US" altLang="zh-CN" dirty="0"/>
              <a:t>Web</a:t>
            </a:r>
            <a:r>
              <a:rPr lang="zh-CN" altLang="en-US" dirty="0"/>
              <a:t>用户界面来维护和跟踪用户的工作流程。</a:t>
            </a:r>
            <a:r>
              <a:rPr lang="en-US" altLang="zh-CN" dirty="0"/>
              <a:t>Azkaban</a:t>
            </a:r>
            <a:r>
              <a:rPr lang="zh-CN" altLang="en-US" dirty="0"/>
              <a:t>已经在</a:t>
            </a:r>
            <a:r>
              <a:rPr lang="en-US" altLang="zh-CN" dirty="0"/>
              <a:t>LinkedIn</a:t>
            </a:r>
            <a:r>
              <a:rPr lang="zh-CN" altLang="en-US" dirty="0"/>
              <a:t>运行了好几年，管理着很多</a:t>
            </a:r>
            <a:r>
              <a:rPr lang="en-US" altLang="zh-CN" dirty="0" err="1"/>
              <a:t>Hadoop</a:t>
            </a:r>
            <a:r>
              <a:rPr lang="zh-CN" altLang="en-US" dirty="0"/>
              <a:t>和数据仓库作业流，具有很强的</a:t>
            </a:r>
            <a:r>
              <a:rPr lang="zh-CN" altLang="en-US" dirty="0" smtClean="0"/>
              <a:t>可用性。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Azkaban</a:t>
            </a:r>
            <a:r>
              <a:rPr lang="zh-CN" altLang="en-US" dirty="0" smtClean="0"/>
              <a:t>产生背景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167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/>
              <a:t>Azkaban</a:t>
            </a:r>
            <a:r>
              <a:rPr lang="zh-CN" altLang="en-US" dirty="0"/>
              <a:t>目前有</a:t>
            </a:r>
            <a:r>
              <a:rPr lang="en-US" altLang="zh-CN" dirty="0"/>
              <a:t>2</a:t>
            </a:r>
            <a:r>
              <a:rPr lang="zh-CN" altLang="en-US" dirty="0"/>
              <a:t>个大版本，</a:t>
            </a:r>
            <a:r>
              <a:rPr lang="en-US" altLang="zh-CN" dirty="0"/>
              <a:t>azkaban1.x</a:t>
            </a:r>
            <a:r>
              <a:rPr lang="zh-CN" altLang="en-US" dirty="0"/>
              <a:t>和</a:t>
            </a:r>
            <a:r>
              <a:rPr lang="en-US" altLang="zh-CN" dirty="0"/>
              <a:t>azkaban2.x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系结构比较简单，不需要依赖数据库，执行器和调度器以及</a:t>
            </a:r>
            <a:r>
              <a:rPr lang="en-US" altLang="zh-CN" dirty="0" err="1"/>
              <a:t>webServer</a:t>
            </a:r>
            <a:r>
              <a:rPr lang="zh-CN" altLang="en-US" dirty="0"/>
              <a:t>都集成在一起，缺点是没有用户和权限管理，其它功能不够丰富，随着用户规模增大和系统健壮性需求，</a:t>
            </a:r>
            <a:r>
              <a:rPr lang="en-US" altLang="zh-CN" dirty="0" err="1"/>
              <a:t>azkaban</a:t>
            </a:r>
            <a:r>
              <a:rPr lang="zh-CN" altLang="en-US" dirty="0"/>
              <a:t>系统演进到最新</a:t>
            </a:r>
            <a:r>
              <a:rPr lang="en-US" altLang="zh-CN" dirty="0"/>
              <a:t>2.x</a:t>
            </a:r>
            <a:r>
              <a:rPr lang="zh-CN" altLang="en-US" dirty="0"/>
              <a:t>版本。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Azkaban</a:t>
            </a:r>
            <a:r>
              <a:rPr lang="zh-CN" altLang="en-US" dirty="0"/>
              <a:t>主要是解决</a:t>
            </a:r>
            <a:r>
              <a:rPr lang="en-US" altLang="zh-CN" dirty="0" err="1"/>
              <a:t>Hadoop</a:t>
            </a:r>
            <a:r>
              <a:rPr lang="en-US" altLang="zh-CN" dirty="0"/>
              <a:t> Job</a:t>
            </a:r>
            <a:r>
              <a:rPr lang="zh-CN" altLang="en-US" dirty="0"/>
              <a:t>的依赖关系，它包括三个组件，组件之间的关系如下图所</a:t>
            </a:r>
            <a:r>
              <a:rPr lang="zh-CN" altLang="en-US" dirty="0" smtClean="0"/>
              <a:t>示：</a:t>
            </a:r>
            <a:endParaRPr lang="en-US" altLang="zh-CN" dirty="0" smtClean="0"/>
          </a:p>
          <a:p>
            <a:r>
              <a:rPr lang="en-US" altLang="zh-CN" dirty="0" smtClean="0"/>
              <a:t>Relational </a:t>
            </a:r>
            <a:r>
              <a:rPr lang="en-US" altLang="zh-CN" dirty="0"/>
              <a:t>Database(MySQL)</a:t>
            </a:r>
            <a:r>
              <a:rPr lang="zh-CN" altLang="en-US" dirty="0"/>
              <a:t>存储</a:t>
            </a:r>
            <a:r>
              <a:rPr lang="en-US" altLang="zh-CN" dirty="0"/>
              <a:t>Azkaban</a:t>
            </a:r>
            <a:r>
              <a:rPr lang="zh-CN" altLang="en-US" dirty="0"/>
              <a:t>和</a:t>
            </a:r>
            <a:r>
              <a:rPr lang="en-US" altLang="zh-CN" dirty="0"/>
              <a:t>Job</a:t>
            </a:r>
            <a:r>
              <a:rPr lang="zh-CN" altLang="en-US" dirty="0"/>
              <a:t>的状态信息</a:t>
            </a:r>
          </a:p>
          <a:p>
            <a:r>
              <a:rPr lang="en-US" altLang="zh-CN" dirty="0" err="1"/>
              <a:t>AzkabanWebServer</a:t>
            </a:r>
            <a:r>
              <a:rPr lang="zh-CN" altLang="en-US" dirty="0"/>
              <a:t>通过</a:t>
            </a:r>
            <a:r>
              <a:rPr lang="en-US" altLang="zh-CN" dirty="0" err="1"/>
              <a:t>WebUI</a:t>
            </a:r>
            <a:r>
              <a:rPr lang="zh-CN" altLang="en-US" dirty="0"/>
              <a:t>的方式处理对</a:t>
            </a:r>
            <a:r>
              <a:rPr lang="en-US" altLang="zh-CN" dirty="0"/>
              <a:t>project</a:t>
            </a:r>
            <a:r>
              <a:rPr lang="zh-CN" altLang="en-US" dirty="0"/>
              <a:t>信息的管理，定时调度和监控</a:t>
            </a:r>
          </a:p>
          <a:p>
            <a:r>
              <a:rPr lang="en-US" altLang="zh-CN" dirty="0" err="1"/>
              <a:t>AzkabanExecutorServer</a:t>
            </a:r>
            <a:r>
              <a:rPr lang="zh-CN" altLang="en-US" dirty="0"/>
              <a:t>负责根据作业的依赖关系完成作业的解析和调度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Azkaban</a:t>
            </a:r>
            <a:r>
              <a:rPr lang="zh-CN" altLang="en-US" dirty="0" smtClean="0"/>
              <a:t>的组件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548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Azkaban</a:t>
            </a:r>
            <a:r>
              <a:rPr lang="zh-CN" altLang="en-US" dirty="0" smtClean="0"/>
              <a:t>的组件</a:t>
            </a:r>
            <a:endParaRPr lang="zh-CN" altLang="en-US" dirty="0"/>
          </a:p>
        </p:txBody>
      </p:sp>
      <p:pic>
        <p:nvPicPr>
          <p:cNvPr id="2050" name="Picture 2" descr="Azkaban Overvi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833760"/>
            <a:ext cx="609600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69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以下是</a:t>
            </a:r>
            <a:r>
              <a:rPr lang="en-US" altLang="zh-CN" dirty="0" err="1" smtClean="0"/>
              <a:t>azkaban</a:t>
            </a:r>
            <a:r>
              <a:rPr lang="zh-CN" altLang="en-US" dirty="0" smtClean="0"/>
              <a:t>常用的作业类型：</a:t>
            </a:r>
            <a:endParaRPr lang="en-US" altLang="zh-CN" dirty="0" smtClean="0"/>
          </a:p>
          <a:p>
            <a:r>
              <a:rPr lang="en-US" altLang="zh-CN" dirty="0" smtClean="0"/>
              <a:t>Command</a:t>
            </a:r>
          </a:p>
          <a:p>
            <a:r>
              <a:rPr lang="en-US" altLang="zh-CN" dirty="0" smtClean="0"/>
              <a:t>Java</a:t>
            </a:r>
          </a:p>
          <a:p>
            <a:r>
              <a:rPr lang="en-US" altLang="zh-CN" dirty="0" err="1" smtClean="0"/>
              <a:t>Hadoop</a:t>
            </a:r>
            <a:r>
              <a:rPr lang="en-US" altLang="zh-CN" dirty="0" smtClean="0"/>
              <a:t> java</a:t>
            </a:r>
          </a:p>
          <a:p>
            <a:r>
              <a:rPr lang="en-US" altLang="zh-CN" dirty="0" smtClean="0"/>
              <a:t>hive</a:t>
            </a:r>
          </a:p>
          <a:p>
            <a:r>
              <a:rPr lang="en-US" altLang="zh-CN" dirty="0" smtClean="0"/>
              <a:t>pig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 smtClean="0"/>
              <a:t>Jobtypes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179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87624" y="1340768"/>
            <a:ext cx="55446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Azkaban</a:t>
            </a:r>
            <a:r>
              <a:rPr lang="zh-CN" altLang="en-US" sz="2800" dirty="0" smtClean="0"/>
              <a:t>介绍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、</a:t>
            </a:r>
            <a:r>
              <a:rPr lang="zh-CN" altLang="en-US" sz="3600" b="1" dirty="0" smtClean="0"/>
              <a:t>任务</a:t>
            </a:r>
            <a:r>
              <a:rPr lang="zh-CN" altLang="en-US" sz="3600" b="1" dirty="0"/>
              <a:t>调度现状和</a:t>
            </a:r>
            <a:r>
              <a:rPr lang="zh-CN" altLang="en-US" sz="3600" b="1" dirty="0" smtClean="0"/>
              <a:t>问题</a:t>
            </a:r>
            <a:endParaRPr lang="en-US" altLang="zh-CN" sz="3600" b="1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azkaban</a:t>
            </a:r>
            <a:r>
              <a:rPr lang="zh-CN" altLang="en-US" sz="2800" dirty="0"/>
              <a:t>的特点及</a:t>
            </a:r>
            <a:r>
              <a:rPr lang="zh-CN" altLang="en-US" sz="2800" dirty="0" smtClean="0"/>
              <a:t>优势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4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azkaban</a:t>
            </a:r>
            <a:r>
              <a:rPr lang="en-US" altLang="zh-CN" sz="2800" dirty="0" smtClean="0"/>
              <a:t> </a:t>
            </a:r>
            <a:r>
              <a:rPr lang="zh-CN" altLang="en-US" sz="2800" dirty="0"/>
              <a:t>的使用</a:t>
            </a:r>
            <a:r>
              <a:rPr lang="zh-CN" altLang="en-US" sz="2800" dirty="0" smtClean="0"/>
              <a:t>场景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5</a:t>
            </a:r>
            <a:r>
              <a:rPr lang="zh-CN" altLang="en-US" sz="2800" dirty="0" smtClean="0"/>
              <a:t>、我们</a:t>
            </a:r>
            <a:r>
              <a:rPr lang="zh-CN" altLang="en-US" sz="2800" dirty="0"/>
              <a:t>的优化与改造</a:t>
            </a:r>
            <a:endParaRPr lang="en-US" altLang="zh-CN" sz="2800" b="1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6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Azkaban</a:t>
            </a:r>
            <a:r>
              <a:rPr lang="zh-CN" altLang="en-US" sz="2800" dirty="0" smtClean="0"/>
              <a:t>使用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1075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dirty="0" smtClean="0"/>
              <a:t>目前我们的系统中使用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crontab</a:t>
            </a:r>
            <a:r>
              <a:rPr lang="zh-CN" altLang="en-US" dirty="0" smtClean="0"/>
              <a:t>来进行一些定时的任务调度。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err="1" smtClean="0"/>
              <a:t>Crontab</a:t>
            </a:r>
            <a:r>
              <a:rPr lang="zh-CN" altLang="en-US" dirty="0" smtClean="0"/>
              <a:t>调度的问题：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、依赖任务的执行时间无法控制。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、出错任务不知道从哪里开始修复执行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zh-CN" altLang="en-US" dirty="0"/>
              <a:t>计算流程某个环节无数据无法监控。</a:t>
            </a:r>
            <a:endParaRPr lang="en-US" altLang="zh-CN" dirty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zh-CN" altLang="en-US" dirty="0"/>
              <a:t>任务是否成功不知道（只有看不到数据才去查看）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5</a:t>
            </a:r>
            <a:r>
              <a:rPr lang="zh-CN" altLang="en-US" dirty="0" smtClean="0"/>
              <a:t>、任务执行日志需要人为指定保存目录（文件）。</a:t>
            </a:r>
            <a:endParaRPr lang="en-US" altLang="zh-CN" dirty="0" smtClean="0"/>
          </a:p>
          <a:p>
            <a:r>
              <a:rPr lang="en-US" altLang="zh-CN" dirty="0" smtClean="0"/>
              <a:t>6</a:t>
            </a:r>
            <a:r>
              <a:rPr lang="zh-CN" altLang="en-US" dirty="0" smtClean="0"/>
              <a:t>、任务出错日志查询难（多次执行保存一个文件）。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任务调度现状和问题</a:t>
            </a:r>
            <a:r>
              <a:rPr lang="en-US" altLang="zh-CN" b="1" dirty="0"/>
              <a:t/>
            </a:r>
            <a:br>
              <a:rPr lang="en-US" altLang="zh-CN" b="1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076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87624" y="1340768"/>
            <a:ext cx="55446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Azkaban</a:t>
            </a:r>
            <a:r>
              <a:rPr lang="zh-CN" altLang="en-US" sz="2800" dirty="0" smtClean="0"/>
              <a:t>介绍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、任务</a:t>
            </a:r>
            <a:r>
              <a:rPr lang="zh-CN" altLang="en-US" sz="2800" dirty="0"/>
              <a:t>调度现状和</a:t>
            </a:r>
            <a:r>
              <a:rPr lang="zh-CN" altLang="en-US" sz="2800" dirty="0" smtClean="0"/>
              <a:t>问题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b="1" dirty="0" smtClean="0"/>
              <a:t>3</a:t>
            </a:r>
            <a:r>
              <a:rPr lang="zh-CN" altLang="en-US" sz="2800" b="1" dirty="0" smtClean="0"/>
              <a:t>、</a:t>
            </a:r>
            <a:r>
              <a:rPr lang="en-US" altLang="zh-CN" sz="3600" b="1" dirty="0" err="1" smtClean="0"/>
              <a:t>azkaban</a:t>
            </a:r>
            <a:r>
              <a:rPr lang="zh-CN" altLang="en-US" sz="3600" b="1" dirty="0"/>
              <a:t>的特点及</a:t>
            </a:r>
            <a:r>
              <a:rPr lang="zh-CN" altLang="en-US" sz="3600" b="1" dirty="0" smtClean="0"/>
              <a:t>优势</a:t>
            </a:r>
            <a:endParaRPr lang="en-US" altLang="zh-CN" sz="3600" b="1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4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azkaban</a:t>
            </a:r>
            <a:r>
              <a:rPr lang="en-US" altLang="zh-CN" sz="2800" dirty="0" smtClean="0"/>
              <a:t> </a:t>
            </a:r>
            <a:r>
              <a:rPr lang="zh-CN" altLang="en-US" sz="2800" dirty="0"/>
              <a:t>的使用</a:t>
            </a:r>
            <a:r>
              <a:rPr lang="zh-CN" altLang="en-US" sz="2800" dirty="0" smtClean="0"/>
              <a:t>场景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5</a:t>
            </a:r>
            <a:r>
              <a:rPr lang="zh-CN" altLang="en-US" sz="2800" dirty="0" smtClean="0"/>
              <a:t>、我们</a:t>
            </a:r>
            <a:r>
              <a:rPr lang="zh-CN" altLang="en-US" sz="2800" dirty="0"/>
              <a:t>的优化与改造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6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Azkaban</a:t>
            </a:r>
            <a:r>
              <a:rPr lang="zh-CN" altLang="en-US" sz="2800" dirty="0" smtClean="0"/>
              <a:t>使用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6268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 err="1" smtClean="0"/>
              <a:t>azkaban</a:t>
            </a:r>
            <a:r>
              <a:rPr lang="zh-CN" altLang="en-US" dirty="0" smtClean="0"/>
              <a:t>的</a:t>
            </a:r>
            <a:r>
              <a:rPr lang="zh-CN" altLang="en-US" dirty="0"/>
              <a:t>主要特点有下面几个：</a:t>
            </a:r>
          </a:p>
          <a:p>
            <a:r>
              <a:rPr lang="zh-CN" altLang="en-US" dirty="0"/>
              <a:t>兼容所有</a:t>
            </a:r>
            <a:r>
              <a:rPr lang="en-US" altLang="zh-CN" dirty="0" err="1"/>
              <a:t>Hadoop</a:t>
            </a:r>
            <a:r>
              <a:rPr lang="zh-CN" altLang="en-US" dirty="0"/>
              <a:t>版本（</a:t>
            </a:r>
            <a:r>
              <a:rPr lang="en-US" altLang="zh-CN" dirty="0"/>
              <a:t>1.x,2.x,CDH</a:t>
            </a:r>
            <a:r>
              <a:rPr lang="zh-CN" altLang="en-US" dirty="0" smtClean="0"/>
              <a:t>）。</a:t>
            </a:r>
            <a:endParaRPr lang="zh-CN" altLang="en-US" dirty="0"/>
          </a:p>
          <a:p>
            <a:r>
              <a:rPr lang="zh-CN" altLang="en-US" b="1" dirty="0"/>
              <a:t>可以通过</a:t>
            </a:r>
            <a:r>
              <a:rPr lang="en-US" altLang="zh-CN" b="1" dirty="0" err="1"/>
              <a:t>WebUI</a:t>
            </a:r>
            <a:r>
              <a:rPr lang="zh-CN" altLang="en-US" b="1" dirty="0"/>
              <a:t>进行管理配置，操作</a:t>
            </a:r>
            <a:r>
              <a:rPr lang="zh-CN" altLang="en-US" b="1" dirty="0" smtClean="0"/>
              <a:t>方便。</a:t>
            </a:r>
            <a:endParaRPr lang="en-US" altLang="zh-CN" b="1" dirty="0" smtClean="0"/>
          </a:p>
          <a:p>
            <a:r>
              <a:rPr lang="zh-CN" altLang="en-US" b="1" dirty="0" smtClean="0"/>
              <a:t>可以修改</a:t>
            </a:r>
            <a:r>
              <a:rPr lang="en-US" altLang="zh-CN" b="1" dirty="0" smtClean="0"/>
              <a:t>job</a:t>
            </a:r>
            <a:r>
              <a:rPr lang="zh-CN" altLang="en-US" b="1" dirty="0" smtClean="0"/>
              <a:t>的执行内容。</a:t>
            </a:r>
            <a:endParaRPr lang="zh-CN" altLang="en-US" b="1" dirty="0"/>
          </a:p>
          <a:p>
            <a:r>
              <a:rPr lang="zh-CN" altLang="en-US" b="1" dirty="0"/>
              <a:t>可以通过</a:t>
            </a:r>
            <a:r>
              <a:rPr lang="en-US" altLang="zh-CN" b="1" dirty="0"/>
              <a:t>UI</a:t>
            </a:r>
            <a:r>
              <a:rPr lang="zh-CN" altLang="en-US" b="1" dirty="0"/>
              <a:t>配置定时</a:t>
            </a:r>
            <a:r>
              <a:rPr lang="zh-CN" altLang="en-US" b="1" dirty="0" smtClean="0"/>
              <a:t>调度，覆盖运行参数，并行处理，失败处理。</a:t>
            </a:r>
            <a:endParaRPr lang="zh-CN" altLang="en-US" b="1" dirty="0"/>
          </a:p>
          <a:p>
            <a:r>
              <a:rPr lang="zh-CN" altLang="en-US" b="1" dirty="0"/>
              <a:t>扩展性好，可针对某一问题开发</a:t>
            </a:r>
            <a:r>
              <a:rPr lang="zh-CN" altLang="en-US" b="1" dirty="0" smtClean="0"/>
              <a:t>组件。</a:t>
            </a:r>
            <a:endParaRPr lang="zh-CN" altLang="en-US" b="1" dirty="0"/>
          </a:p>
          <a:p>
            <a:r>
              <a:rPr lang="zh-CN" altLang="en-US" dirty="0"/>
              <a:t>有权限管理</a:t>
            </a:r>
            <a:r>
              <a:rPr lang="zh-CN" altLang="en-US" dirty="0" smtClean="0"/>
              <a:t>模块。</a:t>
            </a:r>
            <a:endParaRPr lang="zh-CN" altLang="en-US" dirty="0"/>
          </a:p>
          <a:p>
            <a:r>
              <a:rPr lang="zh-CN" altLang="en-US" dirty="0"/>
              <a:t>可以通过</a:t>
            </a:r>
            <a:r>
              <a:rPr lang="en-US" altLang="zh-CN" dirty="0" err="1"/>
              <a:t>WebUI</a:t>
            </a:r>
            <a:r>
              <a:rPr lang="zh-CN" altLang="en-US" dirty="0"/>
              <a:t>跟踪</a:t>
            </a:r>
            <a:r>
              <a:rPr lang="en-US" altLang="zh-CN" dirty="0"/>
              <a:t>Flow</a:t>
            </a:r>
            <a:r>
              <a:rPr lang="zh-CN" altLang="en-US" dirty="0"/>
              <a:t>或者</a:t>
            </a:r>
            <a:r>
              <a:rPr lang="en-US" altLang="zh-CN" dirty="0"/>
              <a:t>Job</a:t>
            </a:r>
            <a:r>
              <a:rPr lang="zh-CN" altLang="en-US" dirty="0"/>
              <a:t>的执行</a:t>
            </a:r>
            <a:r>
              <a:rPr lang="zh-CN" altLang="en-US" dirty="0" smtClean="0"/>
              <a:t>情况。</a:t>
            </a:r>
            <a:endParaRPr lang="zh-CN" altLang="en-US" dirty="0"/>
          </a:p>
          <a:p>
            <a:r>
              <a:rPr lang="zh-CN" altLang="en-US" dirty="0"/>
              <a:t>可以设置邮件</a:t>
            </a:r>
            <a:r>
              <a:rPr lang="zh-CN" altLang="en-US" dirty="0" smtClean="0"/>
              <a:t>提醒。</a:t>
            </a:r>
            <a:endParaRPr lang="zh-CN" altLang="en-US" dirty="0"/>
          </a:p>
          <a:p>
            <a:r>
              <a:rPr lang="zh-CN" altLang="en-US" b="1" dirty="0"/>
              <a:t>可以为定时</a:t>
            </a:r>
            <a:r>
              <a:rPr lang="en-US" altLang="zh-CN" b="1" dirty="0"/>
              <a:t>Flow</a:t>
            </a:r>
            <a:r>
              <a:rPr lang="zh-CN" altLang="en-US" b="1" dirty="0"/>
              <a:t>或者</a:t>
            </a:r>
            <a:r>
              <a:rPr lang="en-US" altLang="zh-CN" b="1" dirty="0"/>
              <a:t>Flow</a:t>
            </a:r>
            <a:r>
              <a:rPr lang="zh-CN" altLang="en-US" b="1" dirty="0"/>
              <a:t>中的某个</a:t>
            </a:r>
            <a:r>
              <a:rPr lang="en-US" altLang="zh-CN" b="1" dirty="0"/>
              <a:t>Job</a:t>
            </a:r>
            <a:r>
              <a:rPr lang="zh-CN" altLang="en-US" b="1" dirty="0"/>
              <a:t>配置执行时间长度的控制，如果执行时间超过了所设的时间，可以发送警告邮件给相关人员或者</a:t>
            </a:r>
            <a:r>
              <a:rPr lang="en-US" altLang="zh-CN" b="1" dirty="0"/>
              <a:t>Kill</a:t>
            </a:r>
            <a:r>
              <a:rPr lang="zh-CN" altLang="en-US" b="1" dirty="0"/>
              <a:t>掉相应设置的</a:t>
            </a:r>
            <a:r>
              <a:rPr lang="en-US" altLang="zh-CN" b="1" dirty="0"/>
              <a:t>Flow</a:t>
            </a:r>
            <a:r>
              <a:rPr lang="zh-CN" altLang="en-US" b="1" dirty="0"/>
              <a:t>或</a:t>
            </a:r>
            <a:r>
              <a:rPr lang="en-US" altLang="zh-CN" b="1" dirty="0" smtClean="0"/>
              <a:t>Job</a:t>
            </a:r>
            <a:r>
              <a:rPr lang="zh-CN" altLang="en-US" b="1" dirty="0" smtClean="0"/>
              <a:t>。</a:t>
            </a:r>
            <a:endParaRPr lang="en-US" altLang="zh-CN" b="1" dirty="0"/>
          </a:p>
          <a:p>
            <a:r>
              <a:rPr lang="zh-CN" altLang="en-US" b="1" dirty="0"/>
              <a:t>可以重试失败</a:t>
            </a:r>
            <a:r>
              <a:rPr lang="en-US" altLang="zh-CN" b="1" dirty="0" smtClean="0"/>
              <a:t>Job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err="1"/>
              <a:t>azkaban</a:t>
            </a:r>
            <a:r>
              <a:rPr lang="zh-CN" altLang="en-US" b="1" dirty="0"/>
              <a:t>的特点及优势</a:t>
            </a:r>
            <a:r>
              <a:rPr lang="en-US" altLang="zh-CN" b="1" dirty="0"/>
              <a:t/>
            </a:r>
            <a:br>
              <a:rPr lang="en-US" altLang="zh-CN" b="1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777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Azkaban</a:t>
            </a:r>
            <a:r>
              <a:rPr lang="zh-CN" altLang="en-US" dirty="0"/>
              <a:t>也有一些局限性（尚待挖掘），</a:t>
            </a:r>
            <a:r>
              <a:rPr lang="zh-CN" altLang="en-US" dirty="0" smtClean="0"/>
              <a:t>例如：</a:t>
            </a:r>
            <a:endParaRPr lang="en-US" altLang="zh-CN" dirty="0" smtClean="0"/>
          </a:p>
          <a:p>
            <a:r>
              <a:rPr lang="zh-CN" altLang="en-US" dirty="0" smtClean="0"/>
              <a:t>任务</a:t>
            </a:r>
            <a:r>
              <a:rPr lang="zh-CN" altLang="en-US" dirty="0"/>
              <a:t>之间的依赖，不能够指定部分完成（比如我们希望任务</a:t>
            </a:r>
            <a:r>
              <a:rPr lang="en-US" altLang="zh-CN" dirty="0"/>
              <a:t>A</a:t>
            </a:r>
            <a:r>
              <a:rPr lang="zh-CN" altLang="en-US" dirty="0"/>
              <a:t>依赖于</a:t>
            </a:r>
            <a:r>
              <a:rPr lang="en-US" altLang="zh-CN" dirty="0"/>
              <a:t>B</a:t>
            </a:r>
            <a:r>
              <a:rPr lang="zh-CN" altLang="en-US" dirty="0"/>
              <a:t>，但是并不是</a:t>
            </a:r>
            <a:r>
              <a:rPr lang="en-US" altLang="zh-CN" dirty="0"/>
              <a:t>B</a:t>
            </a:r>
            <a:r>
              <a:rPr lang="zh-CN" altLang="en-US" dirty="0"/>
              <a:t>完全执行完成</a:t>
            </a:r>
            <a:r>
              <a:rPr lang="en-US" altLang="zh-CN" dirty="0"/>
              <a:t>A</a:t>
            </a:r>
            <a:r>
              <a:rPr lang="zh-CN" altLang="en-US" dirty="0"/>
              <a:t>才可以启动，而是</a:t>
            </a:r>
            <a:r>
              <a:rPr lang="en-US" altLang="zh-CN" dirty="0"/>
              <a:t>B</a:t>
            </a:r>
            <a:r>
              <a:rPr lang="zh-CN" altLang="en-US" dirty="0"/>
              <a:t>的某个阶段完成的话就可以启动</a:t>
            </a:r>
            <a:r>
              <a:rPr lang="en-US" altLang="zh-CN" dirty="0"/>
              <a:t>A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r>
              <a:rPr lang="en-US" altLang="zh-CN" dirty="0"/>
              <a:t>Azkaban</a:t>
            </a:r>
            <a:r>
              <a:rPr lang="zh-CN" altLang="en-US" dirty="0"/>
              <a:t>使用</a:t>
            </a:r>
            <a:r>
              <a:rPr lang="en-US" altLang="zh-CN" dirty="0"/>
              <a:t>MYSQL</a:t>
            </a:r>
            <a:r>
              <a:rPr lang="zh-CN" altLang="en-US" dirty="0"/>
              <a:t>管理工程、计划和</a:t>
            </a:r>
            <a:r>
              <a:rPr lang="zh-CN" altLang="en-US" dirty="0" smtClean="0"/>
              <a:t>执行</a:t>
            </a:r>
            <a:r>
              <a:rPr lang="zh-CN" altLang="en-US" b="1" dirty="0"/>
              <a:t>（目前仅支持</a:t>
            </a:r>
            <a:r>
              <a:rPr lang="en-US" altLang="zh-CN" b="1" dirty="0" err="1" smtClean="0"/>
              <a:t>Mysql</a:t>
            </a:r>
            <a:r>
              <a:rPr lang="zh-CN" altLang="en-US" b="1" dirty="0" smtClean="0"/>
              <a:t>）。</a:t>
            </a:r>
            <a:endParaRPr lang="zh-CN" altLang="en-US" b="1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Azkaban</a:t>
            </a:r>
            <a:r>
              <a:rPr lang="zh-CN" altLang="en-US" dirty="0" smtClean="0"/>
              <a:t>的缺点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887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87624" y="1340768"/>
            <a:ext cx="55446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Azkaban</a:t>
            </a:r>
            <a:r>
              <a:rPr lang="zh-CN" altLang="en-US" sz="2800" dirty="0" smtClean="0"/>
              <a:t>介绍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、任务</a:t>
            </a:r>
            <a:r>
              <a:rPr lang="zh-CN" altLang="en-US" sz="2800" dirty="0"/>
              <a:t>调度现状和</a:t>
            </a:r>
            <a:r>
              <a:rPr lang="zh-CN" altLang="en-US" sz="2800" dirty="0" smtClean="0"/>
              <a:t>问题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azkaban</a:t>
            </a:r>
            <a:r>
              <a:rPr lang="zh-CN" altLang="en-US" sz="2800" dirty="0"/>
              <a:t>的特点及</a:t>
            </a:r>
            <a:r>
              <a:rPr lang="zh-CN" altLang="en-US" sz="2800" dirty="0" smtClean="0"/>
              <a:t>优势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b="1" dirty="0" smtClean="0"/>
              <a:t>4</a:t>
            </a:r>
            <a:r>
              <a:rPr lang="zh-CN" altLang="en-US" sz="2800" b="1" dirty="0" smtClean="0"/>
              <a:t>、</a:t>
            </a:r>
            <a:r>
              <a:rPr lang="en-US" altLang="zh-CN" sz="3600" b="1" dirty="0" err="1" smtClean="0"/>
              <a:t>azkaban</a:t>
            </a:r>
            <a:r>
              <a:rPr lang="en-US" altLang="zh-CN" sz="3600" b="1" dirty="0" smtClean="0"/>
              <a:t> </a:t>
            </a:r>
            <a:r>
              <a:rPr lang="zh-CN" altLang="en-US" sz="3600" b="1" dirty="0"/>
              <a:t>的使用</a:t>
            </a:r>
            <a:r>
              <a:rPr lang="zh-CN" altLang="en-US" sz="3600" b="1" dirty="0" smtClean="0"/>
              <a:t>场景</a:t>
            </a:r>
            <a:endParaRPr lang="en-US" altLang="zh-CN" sz="3600" b="1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5</a:t>
            </a:r>
            <a:r>
              <a:rPr lang="zh-CN" altLang="en-US" sz="2800" dirty="0" smtClean="0"/>
              <a:t>、我们</a:t>
            </a:r>
            <a:r>
              <a:rPr lang="zh-CN" altLang="en-US" sz="2800" dirty="0"/>
              <a:t>的优化与改造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6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Azkaban</a:t>
            </a:r>
            <a:r>
              <a:rPr lang="zh-CN" altLang="en-US" sz="2800" dirty="0" smtClean="0"/>
              <a:t>使用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5936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dirty="0" smtClean="0"/>
              <a:t>以我们实际工作中遇到的问题为例：假如有</a:t>
            </a:r>
            <a:r>
              <a:rPr lang="en-US" altLang="zh-CN" dirty="0" err="1" smtClean="0"/>
              <a:t>a,b,c</a:t>
            </a:r>
            <a:r>
              <a:rPr lang="zh-CN" altLang="en-US" dirty="0" smtClean="0"/>
              <a:t>三个任务，</a:t>
            </a:r>
            <a:r>
              <a:rPr lang="en-US" altLang="zh-CN" dirty="0" smtClean="0"/>
              <a:t>b</a:t>
            </a:r>
            <a:r>
              <a:rPr lang="zh-CN" altLang="en-US" dirty="0" smtClean="0"/>
              <a:t>任务依赖</a:t>
            </a:r>
            <a:r>
              <a:rPr lang="en-US" altLang="zh-CN" dirty="0" smtClean="0"/>
              <a:t>a</a:t>
            </a:r>
            <a:r>
              <a:rPr lang="zh-CN" altLang="en-US" dirty="0" smtClean="0"/>
              <a:t>任务，</a:t>
            </a:r>
            <a:r>
              <a:rPr lang="en-US" altLang="zh-CN" dirty="0" smtClean="0"/>
              <a:t>c</a:t>
            </a:r>
            <a:r>
              <a:rPr lang="zh-CN" altLang="en-US" dirty="0" smtClean="0"/>
              <a:t>任务依赖</a:t>
            </a:r>
            <a:r>
              <a:rPr lang="en-US" altLang="zh-CN" dirty="0" smtClean="0"/>
              <a:t>b</a:t>
            </a:r>
            <a:r>
              <a:rPr lang="zh-CN" altLang="en-US" dirty="0" smtClean="0"/>
              <a:t>任务，如果我们使用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crontab</a:t>
            </a:r>
            <a:r>
              <a:rPr lang="zh-CN" altLang="en-US" dirty="0" smtClean="0"/>
              <a:t>调度分配他们在不同的时间去执行，每个任务之间间隔一定的时间，但是如果这个间隔时间突然变大了，而我们在</a:t>
            </a:r>
            <a:r>
              <a:rPr lang="en-US" altLang="zh-CN" dirty="0" err="1" smtClean="0"/>
              <a:t>crontab</a:t>
            </a:r>
            <a:r>
              <a:rPr lang="zh-CN" altLang="en-US" dirty="0" smtClean="0"/>
              <a:t>中并没有去调整任务执行间隔，这样就容易造成</a:t>
            </a:r>
            <a:r>
              <a:rPr lang="en-US" altLang="zh-CN" dirty="0" err="1" smtClean="0"/>
              <a:t>b,c</a:t>
            </a:r>
            <a:r>
              <a:rPr lang="zh-CN" altLang="en-US" dirty="0" smtClean="0"/>
              <a:t>任务因为没有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的输入结果从而导致提前结束。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如果我们希望每个任务的执行之间有序而紧凑的执行，认为的去调整</a:t>
            </a:r>
            <a:r>
              <a:rPr lang="en-US" altLang="zh-CN" dirty="0" err="1" smtClean="0"/>
              <a:t>crontab</a:t>
            </a:r>
            <a:r>
              <a:rPr lang="zh-CN" altLang="en-US" dirty="0" smtClean="0"/>
              <a:t>间隔时间是一件重复而又非常枯燥的一件事儿，为什么不让调度系统来帮我们来处理。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为什么需要调度系统</a:t>
            </a:r>
          </a:p>
        </p:txBody>
      </p:sp>
    </p:spTree>
    <p:extLst>
      <p:ext uri="{BB962C8B-B14F-4D97-AF65-F5344CB8AC3E}">
        <p14:creationId xmlns:p14="http://schemas.microsoft.com/office/powerpoint/2010/main" val="137120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任务调度系统将属于一个流程的任务组织成一个</a:t>
            </a:r>
            <a:r>
              <a:rPr lang="en-US" altLang="zh-CN" dirty="0" smtClean="0"/>
              <a:t>DAG</a:t>
            </a:r>
            <a:r>
              <a:rPr lang="zh-CN" altLang="en-US" dirty="0" smtClean="0"/>
              <a:t>（有向无环图），</a:t>
            </a:r>
            <a:r>
              <a:rPr lang="en-US" altLang="zh-CN" dirty="0" smtClean="0"/>
              <a:t>DAG</a:t>
            </a:r>
            <a:r>
              <a:rPr lang="zh-CN" altLang="en-US" dirty="0" smtClean="0"/>
              <a:t>的具体实现各个任务调度系统各有千秋。比如</a:t>
            </a:r>
            <a:r>
              <a:rPr lang="en-US" altLang="zh-CN" dirty="0" err="1" smtClean="0"/>
              <a:t>oozie</a:t>
            </a:r>
            <a:r>
              <a:rPr lang="zh-CN" altLang="en-US" dirty="0" smtClean="0"/>
              <a:t>使用一个叫</a:t>
            </a:r>
            <a:r>
              <a:rPr lang="en-US" altLang="zh-CN" dirty="0" smtClean="0"/>
              <a:t>workflow.xml</a:t>
            </a:r>
            <a:r>
              <a:rPr lang="zh-CN" altLang="en-US" dirty="0" smtClean="0"/>
              <a:t>的配置文件将所有的任务组织到一起供执行引擎去调用；而</a:t>
            </a:r>
            <a:r>
              <a:rPr lang="en-US" altLang="zh-CN" dirty="0" err="1" smtClean="0"/>
              <a:t>azkaban</a:t>
            </a:r>
            <a:r>
              <a:rPr lang="zh-CN" altLang="en-US" dirty="0" smtClean="0"/>
              <a:t>的工作流配置更简单，它提供了一些语法，比如单个的任务使用一个</a:t>
            </a:r>
            <a:r>
              <a:rPr lang="en-US" altLang="zh-CN" dirty="0" smtClean="0"/>
              <a:t>.job</a:t>
            </a:r>
            <a:r>
              <a:rPr lang="zh-CN" altLang="en-US" dirty="0" smtClean="0"/>
              <a:t>的文件组织这个任务要做的事情，然后通过</a:t>
            </a:r>
            <a:r>
              <a:rPr lang="en-US" altLang="zh-CN" dirty="0" smtClean="0"/>
              <a:t>dependencies</a:t>
            </a:r>
            <a:r>
              <a:rPr lang="zh-CN" altLang="en-US" dirty="0" smtClean="0"/>
              <a:t>关键字配置所依赖的任务，最后所有任务组织成一个叫</a:t>
            </a:r>
            <a:r>
              <a:rPr lang="en-US" altLang="zh-CN" dirty="0" smtClean="0"/>
              <a:t>flow</a:t>
            </a:r>
            <a:r>
              <a:rPr lang="zh-CN" altLang="en-US" dirty="0" smtClean="0"/>
              <a:t>的流程来供执行引擎来执行。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Azkaban</a:t>
            </a:r>
            <a:r>
              <a:rPr lang="zh-CN" altLang="en-US" dirty="0" smtClean="0"/>
              <a:t>如何调度任务流程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728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比较复杂的</a:t>
            </a:r>
            <a:r>
              <a:rPr lang="en-US" altLang="zh-CN" dirty="0" err="1" smtClean="0"/>
              <a:t>azkaban</a:t>
            </a:r>
            <a:r>
              <a:rPr lang="zh-CN" altLang="en-US" dirty="0" smtClean="0"/>
              <a:t>调度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58" y="1412776"/>
            <a:ext cx="8989842" cy="598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235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87624" y="1340768"/>
            <a:ext cx="55446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Azkaban</a:t>
            </a:r>
            <a:r>
              <a:rPr lang="zh-CN" altLang="en-US" sz="2800" dirty="0" smtClean="0"/>
              <a:t>介绍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、任务</a:t>
            </a:r>
            <a:r>
              <a:rPr lang="zh-CN" altLang="en-US" sz="2800" dirty="0"/>
              <a:t>调度现状和</a:t>
            </a:r>
            <a:r>
              <a:rPr lang="zh-CN" altLang="en-US" sz="2800" dirty="0" smtClean="0"/>
              <a:t>问题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azkaban</a:t>
            </a:r>
            <a:r>
              <a:rPr lang="zh-CN" altLang="en-US" sz="2800" dirty="0"/>
              <a:t>的特点及</a:t>
            </a:r>
            <a:r>
              <a:rPr lang="zh-CN" altLang="en-US" sz="2800" dirty="0" smtClean="0"/>
              <a:t>优势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 smtClean="0"/>
              <a:t>4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azkaban</a:t>
            </a:r>
            <a:r>
              <a:rPr lang="en-US" altLang="zh-CN" sz="2800" dirty="0" smtClean="0"/>
              <a:t> </a:t>
            </a:r>
            <a:r>
              <a:rPr lang="zh-CN" altLang="en-US" sz="2800" dirty="0"/>
              <a:t>的使用</a:t>
            </a:r>
            <a:r>
              <a:rPr lang="zh-CN" altLang="en-US" sz="2800" dirty="0" smtClean="0"/>
              <a:t>场景</a:t>
            </a:r>
            <a:endParaRPr lang="en-US" altLang="zh-CN" sz="2800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b="1" dirty="0"/>
              <a:t>5</a:t>
            </a:r>
            <a:r>
              <a:rPr lang="zh-CN" altLang="en-US" sz="2800" b="1" dirty="0" smtClean="0"/>
              <a:t>、</a:t>
            </a:r>
            <a:r>
              <a:rPr lang="zh-CN" altLang="en-US" sz="3600" b="1" dirty="0" smtClean="0"/>
              <a:t>我们</a:t>
            </a:r>
            <a:r>
              <a:rPr lang="zh-CN" altLang="en-US" sz="3600" b="1" dirty="0"/>
              <a:t>的优化与改造</a:t>
            </a:r>
            <a:endParaRPr lang="en-US" altLang="zh-CN" sz="3600" b="1" dirty="0" smtClean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6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Azkaban</a:t>
            </a:r>
            <a:r>
              <a:rPr lang="zh-CN" altLang="en-US" sz="2800" dirty="0" smtClean="0"/>
              <a:t>使用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9590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、邮件通知系统与内网对接。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、修改成功邮件通知为警告（当流程中有结果数据为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时触发）。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hive</a:t>
            </a:r>
            <a:r>
              <a:rPr lang="zh-CN" altLang="en-US" dirty="0" smtClean="0"/>
              <a:t>插件添加动态时间支持。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hive</a:t>
            </a:r>
            <a:r>
              <a:rPr lang="zh-CN" altLang="en-US" dirty="0" smtClean="0"/>
              <a:t>插件实现动态参数在</a:t>
            </a:r>
            <a:r>
              <a:rPr lang="en-US" altLang="zh-CN" dirty="0" err="1" smtClean="0"/>
              <a:t>hiveQL</a:t>
            </a:r>
            <a:r>
              <a:rPr lang="zh-CN" altLang="en-US" dirty="0" smtClean="0"/>
              <a:t>内使用</a:t>
            </a:r>
            <a:r>
              <a:rPr lang="en-US" altLang="zh-CN" dirty="0" smtClean="0"/>
              <a:t>${</a:t>
            </a:r>
            <a:r>
              <a:rPr lang="en-US" altLang="zh-CN" dirty="0" err="1" smtClean="0"/>
              <a:t>param</a:t>
            </a:r>
            <a:r>
              <a:rPr lang="en-US" altLang="zh-CN" dirty="0" smtClean="0"/>
              <a:t>}</a:t>
            </a:r>
            <a:r>
              <a:rPr lang="zh-CN" altLang="en-US" dirty="0" smtClean="0"/>
              <a:t>获取。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我们的优化与改造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98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87624" y="1340768"/>
            <a:ext cx="55446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Azkaban</a:t>
            </a:r>
            <a:r>
              <a:rPr lang="zh-CN" altLang="en-US" sz="2800" dirty="0"/>
              <a:t>介绍</a:t>
            </a:r>
            <a:endParaRPr lang="en-US" altLang="zh-CN" sz="2800" dirty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2</a:t>
            </a:r>
            <a:r>
              <a:rPr lang="zh-CN" altLang="en-US" sz="2800" dirty="0"/>
              <a:t>、任务调度现状和问题</a:t>
            </a:r>
            <a:endParaRPr lang="en-US" altLang="zh-CN" sz="2800" dirty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3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azkaban</a:t>
            </a:r>
            <a:r>
              <a:rPr lang="zh-CN" altLang="en-US" sz="2800" dirty="0"/>
              <a:t>的特点及优势</a:t>
            </a:r>
            <a:endParaRPr lang="en-US" altLang="zh-CN" sz="2800" dirty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4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azkaban</a:t>
            </a:r>
            <a:r>
              <a:rPr lang="en-US" altLang="zh-CN" sz="2800" dirty="0"/>
              <a:t> </a:t>
            </a:r>
            <a:r>
              <a:rPr lang="zh-CN" altLang="en-US" sz="2800" dirty="0"/>
              <a:t>的使用场景</a:t>
            </a:r>
            <a:endParaRPr lang="en-US" altLang="zh-CN" sz="2800" dirty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dirty="0"/>
              <a:t>5</a:t>
            </a:r>
            <a:r>
              <a:rPr lang="zh-CN" altLang="en-US" sz="2800" dirty="0"/>
              <a:t>、我们的优化与改造</a:t>
            </a:r>
            <a:endParaRPr lang="en-US" altLang="zh-CN" sz="2800" b="1" dirty="0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800" b="1" dirty="0"/>
              <a:t>6</a:t>
            </a:r>
            <a:r>
              <a:rPr lang="zh-CN" altLang="en-US" sz="2800" b="1" dirty="0"/>
              <a:t>、</a:t>
            </a:r>
            <a:r>
              <a:rPr lang="en-US" altLang="zh-CN" sz="3600" b="1" dirty="0"/>
              <a:t>Azkaban</a:t>
            </a:r>
            <a:r>
              <a:rPr lang="zh-CN" altLang="en-US" sz="3600" b="1" dirty="0"/>
              <a:t>使用</a:t>
            </a:r>
          </a:p>
        </p:txBody>
      </p:sp>
    </p:spTree>
    <p:extLst>
      <p:ext uri="{BB962C8B-B14F-4D97-AF65-F5344CB8AC3E}">
        <p14:creationId xmlns:p14="http://schemas.microsoft.com/office/powerpoint/2010/main" val="350248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554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登陆</a:t>
            </a:r>
            <a:r>
              <a:rPr lang="en-US" altLang="zh-CN" sz="3200" b="1" dirty="0" err="1" smtClean="0"/>
              <a:t>azkaban</a:t>
            </a:r>
            <a:endParaRPr lang="zh-CN" altLang="en-US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47889"/>
            <a:ext cx="8674605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478557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在浏览器中输入：</a:t>
            </a:r>
            <a:r>
              <a:rPr lang="en-US" altLang="zh-CN" dirty="0" smtClean="0">
                <a:latin typeface="仿宋" pitchFamily="49" charset="-122"/>
                <a:ea typeface="仿宋" pitchFamily="49" charset="-122"/>
              </a:rPr>
              <a:t>https:10.40.33.11:8443</a:t>
            </a:r>
            <a:endParaRPr lang="zh-CN" altLang="en-US" dirty="0"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004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554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查看所有工程</a:t>
            </a:r>
            <a:endParaRPr lang="zh-CN" altLang="en-US" sz="32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09896"/>
            <a:ext cx="8688550" cy="4611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954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554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所有调度中的流程</a:t>
            </a:r>
            <a:endParaRPr lang="zh-CN" altLang="en-US" sz="32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3626"/>
            <a:ext cx="9138926" cy="4697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738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554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正在执行中的流程</a:t>
            </a:r>
            <a:endParaRPr lang="zh-CN" altLang="en-US" sz="32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" y="1340768"/>
            <a:ext cx="9138045" cy="470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087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554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创建工程</a:t>
            </a:r>
            <a:endParaRPr lang="zh-CN" altLang="en-US" sz="32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7893"/>
            <a:ext cx="9192099" cy="4783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203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554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上传工作流</a:t>
            </a:r>
            <a:endParaRPr lang="zh-CN" altLang="en-US" sz="32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3" y="1700808"/>
            <a:ext cx="9078447" cy="4697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096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554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工作流</a:t>
            </a:r>
            <a:r>
              <a:rPr lang="en-US" altLang="zh-CN" sz="3200" b="1" dirty="0" smtClean="0"/>
              <a:t>zip</a:t>
            </a:r>
            <a:r>
              <a:rPr lang="zh-CN" altLang="en-US" sz="3200" b="1" dirty="0" smtClean="0"/>
              <a:t>包目录</a:t>
            </a:r>
            <a:endParaRPr lang="zh-CN" altLang="en-US" sz="32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772816"/>
            <a:ext cx="5410200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075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8496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.job</a:t>
            </a:r>
            <a:r>
              <a:rPr lang="zh-CN" altLang="en-US" sz="3200" b="1" dirty="0" smtClean="0"/>
              <a:t>文件的写法，以</a:t>
            </a:r>
            <a:r>
              <a:rPr lang="en-US" altLang="zh-CN" sz="3200" b="1" dirty="0" smtClean="0"/>
              <a:t>command</a:t>
            </a:r>
            <a:r>
              <a:rPr lang="zh-CN" altLang="en-US" sz="3200" b="1" dirty="0" smtClean="0"/>
              <a:t>为例</a:t>
            </a:r>
            <a:endParaRPr lang="zh-CN" altLang="en-US" sz="32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022660"/>
            <a:ext cx="478155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99592" y="2780928"/>
            <a:ext cx="53046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Type</a:t>
            </a:r>
            <a:r>
              <a:rPr lang="zh-CN" altLang="en-US" dirty="0"/>
              <a:t>：</a:t>
            </a:r>
            <a:r>
              <a:rPr lang="en-US" altLang="zh-CN" dirty="0" smtClean="0"/>
              <a:t>hive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pig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command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hadoopjava</a:t>
            </a:r>
            <a:endParaRPr lang="en-US" altLang="zh-CN" dirty="0" smtClean="0"/>
          </a:p>
          <a:p>
            <a:r>
              <a:rPr lang="en-US" altLang="zh-CN" dirty="0" smtClean="0"/>
              <a:t>Command</a:t>
            </a:r>
            <a:r>
              <a:rPr lang="zh-CN" altLang="en-US" dirty="0" smtClean="0"/>
              <a:t>可以有多个，如有增加以</a:t>
            </a:r>
            <a:r>
              <a:rPr lang="en-US" altLang="zh-CN" dirty="0" smtClean="0"/>
              <a:t>command.1=xxx</a:t>
            </a:r>
          </a:p>
          <a:p>
            <a:r>
              <a:rPr lang="en-US" altLang="zh-CN" dirty="0" smtClean="0"/>
              <a:t>Dependencies</a:t>
            </a:r>
            <a:r>
              <a:rPr lang="zh-CN" altLang="en-US" dirty="0" smtClean="0"/>
              <a:t>可以有多个，多个之间用‘，’分割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902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8496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执行一个流程</a:t>
            </a:r>
            <a:endParaRPr lang="en-US" altLang="zh-CN" sz="3200" b="1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28800"/>
            <a:ext cx="8972615" cy="4591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595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8496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执行一个流程</a:t>
            </a:r>
            <a:endParaRPr lang="en-US" altLang="zh-CN" sz="3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899592" y="2780928"/>
            <a:ext cx="53046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Type</a:t>
            </a:r>
            <a:r>
              <a:rPr lang="zh-CN" altLang="en-US" dirty="0"/>
              <a:t>：</a:t>
            </a:r>
            <a:r>
              <a:rPr lang="en-US" altLang="zh-CN" dirty="0" smtClean="0"/>
              <a:t>hive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pig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command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hadoopjava</a:t>
            </a:r>
            <a:endParaRPr lang="en-US" altLang="zh-CN" dirty="0" smtClean="0"/>
          </a:p>
          <a:p>
            <a:r>
              <a:rPr lang="en-US" altLang="zh-CN" dirty="0" smtClean="0"/>
              <a:t>Command</a:t>
            </a:r>
            <a:r>
              <a:rPr lang="zh-CN" altLang="en-US" dirty="0" smtClean="0"/>
              <a:t>可以有多个，如有增加以</a:t>
            </a:r>
            <a:r>
              <a:rPr lang="en-US" altLang="zh-CN" dirty="0" smtClean="0"/>
              <a:t>command.1=xxx</a:t>
            </a:r>
          </a:p>
          <a:p>
            <a:r>
              <a:rPr lang="en-US" altLang="zh-CN" dirty="0" smtClean="0"/>
              <a:t>Dependencies</a:t>
            </a:r>
            <a:r>
              <a:rPr lang="zh-CN" altLang="en-US" dirty="0" smtClean="0"/>
              <a:t>可以有多个，多个之间用‘，’分割</a:t>
            </a:r>
            <a:endParaRPr lang="zh-CN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884082"/>
            <a:ext cx="8640959" cy="442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780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8496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Flow </a:t>
            </a:r>
            <a:r>
              <a:rPr lang="en-US" altLang="zh-CN" sz="3200" b="1" dirty="0"/>
              <a:t>V</a:t>
            </a:r>
            <a:r>
              <a:rPr lang="en-US" altLang="zh-CN" sz="3200" b="1" dirty="0" smtClean="0"/>
              <a:t>iew</a:t>
            </a:r>
            <a:endParaRPr lang="zh-CN" altLang="en-US" sz="3200" b="1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90442"/>
            <a:ext cx="8665264" cy="450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161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8496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Notification</a:t>
            </a:r>
            <a:endParaRPr lang="zh-CN" altLang="en-US" sz="3200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25" y="1340768"/>
            <a:ext cx="8643055" cy="4783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798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8496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Failure Options</a:t>
            </a:r>
            <a:endParaRPr lang="zh-CN" altLang="en-US" sz="3200" b="1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28800"/>
            <a:ext cx="8735528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618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8496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Concurrent</a:t>
            </a:r>
            <a:endParaRPr lang="zh-CN" altLang="en-US" sz="3200" b="1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74" y="1484784"/>
            <a:ext cx="8899068" cy="463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542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404664"/>
            <a:ext cx="8496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Flow Parameters</a:t>
            </a:r>
            <a:endParaRPr lang="zh-CN" altLang="en-US" sz="3200" b="1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32" y="1484784"/>
            <a:ext cx="8913351" cy="4615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3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Azkaban</a:t>
            </a:r>
            <a:r>
              <a:rPr lang="zh-CN" altLang="en-US" dirty="0" smtClean="0"/>
              <a:t>实践（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使用</a:t>
            </a:r>
            <a:r>
              <a:rPr lang="en-US" altLang="zh-CN" dirty="0" err="1" smtClean="0"/>
              <a:t>azkaban</a:t>
            </a:r>
            <a:r>
              <a:rPr lang="zh-CN" altLang="en-US" dirty="0" smtClean="0"/>
              <a:t>调度</a:t>
            </a:r>
            <a:r>
              <a:rPr lang="en-US" altLang="zh-CN" dirty="0" smtClean="0"/>
              <a:t>command</a:t>
            </a:r>
            <a:endParaRPr lang="zh-CN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43075"/>
            <a:ext cx="7467600" cy="511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8084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Azkaban</a:t>
            </a:r>
            <a:r>
              <a:rPr lang="zh-CN" altLang="en-US" dirty="0"/>
              <a:t>实践（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使用</a:t>
            </a:r>
            <a:r>
              <a:rPr lang="en-US" altLang="zh-CN" dirty="0" err="1"/>
              <a:t>azkaban</a:t>
            </a:r>
            <a:r>
              <a:rPr lang="zh-CN" altLang="en-US" dirty="0"/>
              <a:t>调度</a:t>
            </a:r>
            <a:r>
              <a:rPr lang="en-US" altLang="zh-CN" dirty="0"/>
              <a:t>command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528" y="1763953"/>
            <a:ext cx="9591675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545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Azkaban</a:t>
            </a:r>
            <a:r>
              <a:rPr lang="zh-CN" altLang="en-US" dirty="0"/>
              <a:t>实践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使用</a:t>
            </a:r>
            <a:r>
              <a:rPr lang="en-US" altLang="zh-CN" dirty="0" err="1"/>
              <a:t>azkaban</a:t>
            </a:r>
            <a:r>
              <a:rPr lang="zh-CN" altLang="en-US" dirty="0" smtClean="0"/>
              <a:t>调度</a:t>
            </a:r>
            <a:r>
              <a:rPr lang="en-US" altLang="zh-CN" dirty="0" smtClean="0"/>
              <a:t>hive</a:t>
            </a:r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38" y="3558530"/>
            <a:ext cx="32766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551989"/>
            <a:ext cx="3867150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677" y="1866900"/>
            <a:ext cx="5010150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892" y="5013176"/>
            <a:ext cx="54102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459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谢谢观看</a:t>
            </a:r>
            <a:r>
              <a:rPr lang="zh-CN" altLang="en-US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87310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1122</TotalTime>
  <Words>1347</Words>
  <Application>Microsoft Office PowerPoint</Application>
  <PresentationFormat>全屏显示(4:3)</PresentationFormat>
  <Paragraphs>119</Paragraphs>
  <Slides>38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39" baseType="lpstr">
      <vt:lpstr>波形</vt:lpstr>
      <vt:lpstr>Azkaban调度系统实践</vt:lpstr>
      <vt:lpstr>PowerPoint 演示文稿</vt:lpstr>
      <vt:lpstr>Azkaban介绍 </vt:lpstr>
      <vt:lpstr>Azkaban产生背景</vt:lpstr>
      <vt:lpstr>Azkaban的组件</vt:lpstr>
      <vt:lpstr>Azkaban的组件</vt:lpstr>
      <vt:lpstr>Jobtypes </vt:lpstr>
      <vt:lpstr>PowerPoint 演示文稿</vt:lpstr>
      <vt:lpstr>任务调度现状和问题 </vt:lpstr>
      <vt:lpstr>PowerPoint 演示文稿</vt:lpstr>
      <vt:lpstr>azkaban的特点及优势 </vt:lpstr>
      <vt:lpstr>Azkaban的缺点</vt:lpstr>
      <vt:lpstr>PowerPoint 演示文稿</vt:lpstr>
      <vt:lpstr>为什么需要调度系统</vt:lpstr>
      <vt:lpstr>Azkaban如何调度任务流程</vt:lpstr>
      <vt:lpstr>比较复杂的azkaban调度</vt:lpstr>
      <vt:lpstr>PowerPoint 演示文稿</vt:lpstr>
      <vt:lpstr>我们的优化与改造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Azkaban实践（1） 使用azkaban调度command</vt:lpstr>
      <vt:lpstr>Azkaban实践（1） 使用azkaban调度command</vt:lpstr>
      <vt:lpstr>Azkaban实践（2） 使用azkaban调度hive</vt:lpstr>
      <vt:lpstr>谢谢观看！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Azkaban使用文档</dc:title>
  <dc:creator>sinova</dc:creator>
  <cp:lastModifiedBy>sinova</cp:lastModifiedBy>
  <cp:revision>61</cp:revision>
  <dcterms:created xsi:type="dcterms:W3CDTF">2015-02-10T08:02:08Z</dcterms:created>
  <dcterms:modified xsi:type="dcterms:W3CDTF">2015-03-16T09:17:04Z</dcterms:modified>
</cp:coreProperties>
</file>